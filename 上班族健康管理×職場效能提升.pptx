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高糖午餐</c:v>
                </c:pt>
              </c:strCache>
            </c:strRef>
          </c:tx>
          <c:spPr>
            <a:solidFill>
              <a:srgbClr val="F28C28"/>
            </a:solidFill>
            <a:ln w="3810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12:00</c:v>
                  </c:pt>
                  <c:pt idx="1">
                    <c:v>12:30</c:v>
                  </c:pt>
                  <c:pt idx="2">
                    <c:v>13:00</c:v>
                  </c:pt>
                  <c:pt idx="3">
                    <c:v>13:30</c:v>
                  </c:pt>
                  <c:pt idx="4">
                    <c:v>14:00</c:v>
                  </c:pt>
                  <c:pt idx="5">
                    <c:v>14:30</c:v>
                  </c:pt>
                  <c:pt idx="6">
                    <c:v>15:00</c:v>
                  </c:pt>
                  <c:pt idx="7">
                    <c:v>15:30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</c:v>
                </c:pt>
                <c:pt idx="1">
                  <c:v>160</c:v>
                </c:pt>
                <c:pt idx="2">
                  <c:v>185</c:v>
                </c:pt>
                <c:pt idx="3">
                  <c:v>170</c:v>
                </c:pt>
                <c:pt idx="4">
                  <c:v>130</c:v>
                </c:pt>
                <c:pt idx="5">
                  <c:v>105</c:v>
                </c:pt>
                <c:pt idx="6">
                  <c:v>90</c:v>
                </c:pt>
                <c:pt idx="7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均衡午餐</c:v>
                </c:pt>
              </c:strCache>
            </c:strRef>
          </c:tx>
          <c:spPr>
            <a:solidFill>
              <a:srgbClr val="168C96"/>
            </a:solidFill>
            <a:ln w="38100" cap="flat">
              <a:solidFill>
                <a:srgbClr val="168C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8C96"/>
              </a:solidFill>
              <a:ln w="9525" cap="flat">
                <a:solidFill>
                  <a:srgbClr val="168C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12:00</c:v>
                  </c:pt>
                  <c:pt idx="1">
                    <c:v>12:30</c:v>
                  </c:pt>
                  <c:pt idx="2">
                    <c:v>13:00</c:v>
                  </c:pt>
                  <c:pt idx="3">
                    <c:v>13:30</c:v>
                  </c:pt>
                  <c:pt idx="4">
                    <c:v>14:00</c:v>
                  </c:pt>
                  <c:pt idx="5">
                    <c:v>14:30</c:v>
                  </c:pt>
                  <c:pt idx="6">
                    <c:v>15:00</c:v>
                  </c:pt>
                  <c:pt idx="7">
                    <c:v>15:30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95</c:v>
                </c:pt>
                <c:pt idx="1">
                  <c:v>130</c:v>
                </c:pt>
                <c:pt idx="2">
                  <c:v>145</c:v>
                </c:pt>
                <c:pt idx="3">
                  <c:v>138</c:v>
                </c:pt>
                <c:pt idx="4">
                  <c:v>120</c:v>
                </c:pt>
                <c:pt idx="5">
                  <c:v>110</c:v>
                </c:pt>
                <c:pt idx="6">
                  <c:v>100</c:v>
                </c:pt>
                <c:pt idx="7">
                  <c:v>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血糖 mg/dL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生生優活南京健康管理診所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上班族健康管理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職場效能提升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從代謝、外食、壓力到專注力的營養師實戰策略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代謝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411480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A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🥗 外食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411480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FFF3E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😤 壓力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4114800"/>
            <a:ext cx="1371600" cy="502920"/>
          </a:xfrm>
          <a:prstGeom prst="roundRect">
            <a:avLst>
              <a:gd name="adj" fmla="val 49091"/>
            </a:avLst>
          </a:prstGeom>
          <a:solidFill>
            <a:srgbClr val="F3E5F5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 專注力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1463040"/>
            <a:ext cx="3017520" cy="3017520"/>
          </a:xfrm>
          <a:prstGeom prst="ellipse">
            <a:avLst/>
          </a:prstGeom>
          <a:solidFill>
            <a:srgbClr val="168C96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146304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🩺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職場犯罪現場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你最近一週中了幾項？（演講時可逐項點擊揭示）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下午容易想睡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377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下午兩三點撐不住，思緒渙散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0" y="18562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94944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靠咖啡或甜食撐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2377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沒有手搖或咖啡就沒有精神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593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晚上壓力性進食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114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壓力大就想吃，停不下來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42900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3593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🛌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4944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睡不飽又不想動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4114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睡了還是累，完全無法運動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CE4E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74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不是你不自律，是生活系統正在讓健康變困難。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此工具僅供一般健康教育，不取代個別醫療診斷或營養評估。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❤️‍🩹 代謝症候群五項自我檢查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 ≥3 項建議尋求醫療與營養專業評估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1051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B0B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69164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腰圍偏高（男 ≥90cm，女 ≥80cm）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6583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52374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B0BE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4048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血壓偏高（≥130/85 mmHg）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6583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2369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11810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空腹血糖偏高（≥100 mg/dL）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6583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95020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B0B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83133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三酸甘油酯偏高（≥150 mg/dL）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6583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66344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54456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HDL 膽固醇偏低（男 &lt;40，女 &lt;50 mg/dL）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98080" y="169164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判定標準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0" y="256032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2560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A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0–1 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06840" y="2560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目前未達代謝症候群判定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0" y="324612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FFF3E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0684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接近警戒線，建議調整生活習慣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0" y="393192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FCE4EC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3931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≥3 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0684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建議接受進一步醫療與營養評估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此工具僅供衛教，不取代正式診斷。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6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4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8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2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6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四面埋伏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久坐、外食、壓力、睡眠不足如何影響你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8C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🪑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久坐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173736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8C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8C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29768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8C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睡眠不足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10881360" cy="265176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286000"/>
                <a:gridCol w="2331720"/>
                <a:gridCol w="23317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影響面向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久坐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壓力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睡眠不足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食慾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飢餓素下降但消耗少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高鈉高油刺激食慾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皮質醇升高，偏好高糖高脂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飢餓素上升、飽足素下降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血糖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胰島素敏感性下降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精製澱粉血糖波動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血糖調節受干擾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空腹血糖調節變差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腰圍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內臟脂肪風險增加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熱量油脂難控制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腹部脂肪積累風險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體重增加風險升高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工作精神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下午嗜睡明顯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油膩午餐加重疲倦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專注力與決策力下降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2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記憶力反應速度下滑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⚖️ 隱形成本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健康投資 vs 未投資的代價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A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🌿 健康投資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221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每日充足補水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維持專注、減少頭痛與疲勞感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136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健康餐選擇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穩定血糖、減少午後嗜睡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🚶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050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飯後散步 10 分鐘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389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促進消化與血糖調節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😴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4965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充足睡眠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5303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降低壓力荷爾蒙、控制食慾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未投資的代價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1488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😵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2221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慢性疲勞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工作效率持續下滑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30632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23760" y="3136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請假頻率增加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因健康問題缺勤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39776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4050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醫療支出增加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4389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慢性病長期花費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48920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8368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223760" y="4965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在職低效能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23760" y="5303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人在心不在的生產力損耗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23560" y="30175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B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46E7A"/>
                </a:solidFill>
              </a:rPr>
              <a:t>⇄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6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4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8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2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6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0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4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8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2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6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0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4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8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2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四大系統解方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最低成本版本的行動方案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8100">
            <a:solidFill>
              <a:srgbClr val="168C96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73152"/>
          </a:xfrm>
          <a:prstGeom prst="rect">
            <a:avLst/>
          </a:prstGeom>
          <a:solidFill>
            <a:srgbClr val="168C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🍽️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592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吃對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飲料先改無糖／點餐加一份青菜／精製澱粉換地瓜或糙米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8100">
            <a:solidFill>
              <a:srgbClr val="3BA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737360"/>
            <a:ext cx="5394960" cy="73152"/>
          </a:xfrm>
          <a:prstGeom prst="rect">
            <a:avLst/>
          </a:prstGeom>
          <a:solidFill>
            <a:srgbClr val="3BAA5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🏃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動一點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飯後走路 10 分鐘／會議改走路會議／久坐每小時起身一次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8100">
            <a:solidFill>
              <a:srgbClr val="F28C28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14800"/>
            <a:ext cx="5394960" cy="73152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🌙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45920" y="4370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下午三點後減少咖啡因／睡前 30 分鐘減少螢幕／固定起床時間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8100">
            <a:solidFill>
              <a:srgbClr val="F8D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4114800"/>
            <a:ext cx="5394960" cy="73152"/>
          </a:xfrm>
          <a:prstGeom prst="rect">
            <a:avLst/>
          </a:prstGeom>
          <a:solidFill>
            <a:srgbClr val="F8D7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43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🧘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15200" y="4370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先辨認是真餓還是心情差／壓力時先喝一杯水／設定不看手機 30 分鐘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🍱 你會怎麼選？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午餐二選一（演講時點擊展開解析）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選項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炸排骨便當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附滷汁白飯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含糖珍珠奶茶（全糖）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3BA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94360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選項 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30175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烤雞腿便當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兩份青菜＋半飯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無糖茶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463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選項 B 蛋白質充足、蔬菜豐富、澱粉適量，較能維持午後血糖平穩，有助於保持下午的工作專注力。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5E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選項 A 的油、鈉、精製澱粉同時偏高，這組不是絕對不能吃，但較難維持下午的飽足感與精神穩定。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⏱️ 10 秒點餐公式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四步驟組成一份理想餐盤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496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蛋白質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8986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雞、魚、豆、蛋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920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2496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蔬菜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8986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至少一份，深色優先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920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35040" y="2496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28986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半碗～一碗，全穀更好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0" y="17830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78240" y="1920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778240" y="2496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飲料醬料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15400" y="28986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無糖飲，醬料減半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68C9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60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外食護身符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蛋白質 ＋ 蔬菜 ＋ 適量主食 ＋ 無糖飲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醬料減半、炸物換烤物、飯後走 10 分鐘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❓ 真餓？還是假餓？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演講時依序點擊展開四個問題與結果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距離上一餐是否超過 3–4 小時？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243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62432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現在任何食物都能接受嗎？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46557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46557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是否剛經歷壓力事件？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30682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30682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是否只想吃特定甜食或炸物？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四種可能結果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2560320"/>
            <a:ext cx="201168" cy="201168"/>
          </a:xfrm>
          <a:prstGeom prst="ellipse">
            <a:avLst/>
          </a:prstGeom>
          <a:solidFill>
            <a:srgbClr val="3BAA5C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生理性飢餓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09560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正常進食信號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89520" y="3337560"/>
            <a:ext cx="201168" cy="201168"/>
          </a:xfrm>
          <a:prstGeom prst="ellipse">
            <a:avLst/>
          </a:prstGeom>
          <a:solidFill>
            <a:srgbClr val="F8D75A"/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09560" y="3593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偶爾 ok，留意份量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89520" y="4114800"/>
            <a:ext cx="201168" cy="201168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壓力性進食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09560" y="4370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先辨識壓力來源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89520" y="4892040"/>
            <a:ext cx="201168" cy="201168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4800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疲勞性進食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09560" y="5148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優先改善睡眠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6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4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8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2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點心抽屜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份量、時機、搭配一次掌握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無糖豆漿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250ml｜早上或下午茶｜搭全麥餅乾或水果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33672" y="178308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9202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🍦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33672" y="256032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無糖優格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16552" y="297180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100–150g｜飯後或下午｜搭莓果或堅果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18704" y="178308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18704" y="19202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🥚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918704" y="256032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茶葉蛋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01584" y="297180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1–2顆｜早餐或下午｜搭無糖飲料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4348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🫘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約50g｜下午茶｜無調味最佳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33672" y="429768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33672" y="44348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🌰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233672" y="507492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堅果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16552" y="548640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約15g｜下午或飯前｜避免含糖版本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18704" y="4297680"/>
            <a:ext cx="34564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18704" y="44348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🍊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918704" y="507492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01584" y="5486400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拳頭大小｜兩餐之間｜搭蛋白質更穩定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6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4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💗 情緒性進食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辨識壓力飲食的觸發點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常見觸發情境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03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⏰  截止日逼近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😤  開完讓人抓狂的會議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657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🌙  一個人獨自加班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434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🥱  無聊空閒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先做這三步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176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先喝一杯水，等 5 分鐘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2907792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29809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32278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問自己：任何食物都可以嗎？若只想吃特定甜食，可能是情緒性的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4032504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41056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43525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若仍想吃，選較不後悔的選項：堅果＞薯片，水果＞糖果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🥧 你屬於哪種類型？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壓力飲食的四種型態（依序展示）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3BA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🍽️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生理性飢餓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距上餐 3–4 小時，任何食物都可以接受，飽了就停止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364992"/>
            <a:ext cx="1554480" cy="365760"/>
          </a:xfrm>
          <a:prstGeom prst="roundRect">
            <a:avLst>
              <a:gd name="adj" fmla="val 45000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64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A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F8D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22376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嘴饞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不餓但想吃，通常只想特定食物，吃了後悔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364992"/>
            <a:ext cx="1554480" cy="365760"/>
          </a:xfrm>
          <a:prstGeom prst="roundRect">
            <a:avLst>
              <a:gd name="adj" fmla="val 45000"/>
            </a:avLst>
          </a:prstGeom>
          <a:solidFill>
            <a:srgbClr val="FFF8E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364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D7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偶爾 ok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297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😤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315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壓力性進食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遇到壓力事件後突然想吃，偏好高糖高脂食物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742432"/>
            <a:ext cx="1554480" cy="365760"/>
          </a:xfrm>
          <a:prstGeom prst="roundRect">
            <a:avLst>
              <a:gd name="adj" fmla="val 45000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42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8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需要留意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41148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4297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😵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223760" y="4315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疲勞性進食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892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睡眠不足導致飢餓素上升，食慾難以控制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5742432"/>
            <a:ext cx="1554480" cy="365760"/>
          </a:xfrm>
          <a:prstGeom prst="roundRect">
            <a:avLst>
              <a:gd name="adj" fmla="val 45000"/>
            </a:avLst>
          </a:prstGeom>
          <a:solidFill>
            <a:srgbClr val="F3E5F5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5742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27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改善睡眠優先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6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4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📈 血糖過山車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午餐選擇如何影響下午精神狀態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3736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高糖＋精製澱粉午餐：血糖大幅震盪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蛋白質＋蔬菜＋適量主食：較平穩曲線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0" y="292608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30175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午後嗜睡不一定只由血糖造成，睡眠不足、缺水、過量進食與久坐也可能參與。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示意圖，個人血糖反應因人而異。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💧 水分與專注力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每杯 250ml｜建議每日 8 杯（2000ml）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💧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148840" y="17830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4884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💧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749040" y="17830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💧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349240" y="17830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4924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💧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337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💧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2148840" y="33375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48840" y="3337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🥛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3749040" y="33375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3337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🥛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5349240" y="33375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3337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🥛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7040880" y="1783080"/>
            <a:ext cx="4572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今日喝水進度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2468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已喝 5 杯（1250 ml），繼續保持！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30175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缺水對工作的影響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 專注力下降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😴 疲勞感增加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🤕 頭痛風險升高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😠 情緒波動加大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五個專注力習慣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依序自動淡入展示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7400" cy="3657600"/>
          </a:xfrm>
          <a:prstGeom prst="roundRect">
            <a:avLst>
              <a:gd name="adj" fmla="val 5333"/>
            </a:avLst>
          </a:prstGeom>
          <a:solidFill>
            <a:srgbClr val="168C9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🍳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早餐蛋白質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早餐加入蛋、豆漿或起司，有助穩定上午血糖與專注力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1828800"/>
            <a:ext cx="2057400" cy="3657600"/>
          </a:xfrm>
          <a:prstGeom prst="roundRect">
            <a:avLst>
              <a:gd name="adj" fmla="val 5333"/>
            </a:avLst>
          </a:prstGeom>
          <a:solidFill>
            <a:srgbClr val="0B2E5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26080" y="2834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午餐不過油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33832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高油脂午餐會延長消化時間，加重下午嗜睡感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057400" cy="3657600"/>
          </a:xfrm>
          <a:prstGeom prst="roundRect">
            <a:avLst>
              <a:gd name="adj" fmla="val 5333"/>
            </a:avLst>
          </a:prstGeom>
          <a:solidFill>
            <a:srgbClr val="168C9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⏰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166360" y="2834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規律進食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33832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4–5 小時進食一次，穩定血糖有助於維持認知功能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1828800"/>
            <a:ext cx="2057400" cy="3657600"/>
          </a:xfrm>
          <a:prstGeom prst="roundRect">
            <a:avLst>
              <a:gd name="adj" fmla="val 5333"/>
            </a:avLst>
          </a:prstGeom>
          <a:solidFill>
            <a:srgbClr val="0B2E5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06640" y="2834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規律補水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33832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每小時補水 200–250ml，感到口渴時已輕微脫水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09760" y="1828800"/>
            <a:ext cx="2057400" cy="3657600"/>
          </a:xfrm>
          <a:prstGeom prst="roundRect">
            <a:avLst>
              <a:gd name="adj" fmla="val 5333"/>
            </a:avLst>
          </a:prstGeom>
          <a:solidFill>
            <a:srgbClr val="168C9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09760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🚶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46920" y="2834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飯後走路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0" y="33832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飯後 10–15 分鐘散步，有助減緩血糖上升、提振下午精神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🕐 上班族一日健康時間軸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把健康變成生活節奏的一部分（依序淡入）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08:30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737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0" y="173736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早餐｜蛋白質＋蔬菜，減少精製澱粉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54203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10:30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54203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77440" y="254203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補水｜喝水 250ml，離開座位一次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346704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12:15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334670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77440" y="3346704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午餐｜10 秒公式點餐，醬料減半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151376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12:45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15137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377440" y="4151376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飯後散步｜10 分鐘，有助血糖調節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956048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95604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15:30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495604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377440" y="4956048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健康點心｜堅果或茶葉蛋，避免高糖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76072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7607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19:00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37360" y="57607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🍚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377440" y="57607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晚餐｜七分飽，睡前 3 小時避免大量進食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6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4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四週健康計畫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選擇本週想執行的任務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28C28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週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飲料先改無糖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28C28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🥦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3063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午餐多加一份蔬菜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28C28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🌰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3063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選擇健康點心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15400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F28C28"/>
            </a:solidFill>
            <a:prstDash val="solid"/>
          </a:ln>
          <a:effectLst>
            <a:outerShdw sx="100000" sy="100000" kx="0" ky="0" algn="bl" rotWithShape="0" blurRad="101600" dist="38100" dir="8100000">
              <a:srgbClr val="0B2E5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1540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1540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🚶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06840" y="3063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飯後走路 10 分鐘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891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我的本週任務：午餐後走 10 分鐘，每週至少 5 天。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🏢 企業健康策略模擬器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趣味示意，非精確成本模型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653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0F7FA"/>
          </a:solidFill>
          <a:ln w="15240">
            <a:solidFill>
              <a:srgbClr val="168C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373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健檢後一對一營養諮詢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5420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0F7FA"/>
          </a:solidFill>
          <a:ln w="15240">
            <a:solidFill>
              <a:srgbClr val="168C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41401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健康會議餐（低糖低油）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2186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0F7FA"/>
          </a:solidFill>
          <a:ln w="15240">
            <a:solidFill>
              <a:srgbClr val="168C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0906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走路會議制度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67328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8953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0F7FA"/>
          </a:solidFill>
          <a:ln w="15240">
            <a:solidFill>
              <a:srgbClr val="168C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7673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部門健康挑戰活動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5720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0F7FA"/>
          </a:solidFill>
          <a:ln w="15240">
            <a:solidFill>
              <a:srgbClr val="168C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4439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茶水間健康零食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員工支持度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194560"/>
            <a:ext cx="4754880" cy="274320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2194560"/>
            <a:ext cx="3423514" cy="274320"/>
          </a:xfrm>
          <a:prstGeom prst="roundRect">
            <a:avLst>
              <a:gd name="adj" fmla="val 50000"/>
            </a:avLst>
          </a:prstGeom>
          <a:solidFill>
            <a:srgbClr val="3BAA5C"/>
          </a:solidFill>
          <a:ln/>
        </p:spPr>
      </p:sp>
      <p:sp>
        <p:nvSpPr>
          <p:cNvPr id="22" name="Text 20"/>
          <p:cNvSpPr/>
          <p:nvPr/>
        </p:nvSpPr>
        <p:spPr>
          <a:xfrm>
            <a:off x="11247120" y="1783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執行難度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3108960"/>
            <a:ext cx="4754880" cy="274320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3108960"/>
            <a:ext cx="1806854" cy="27432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26" name="Text 24"/>
          <p:cNvSpPr/>
          <p:nvPr/>
        </p:nvSpPr>
        <p:spPr>
          <a:xfrm>
            <a:off x="1124712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預估影響範圍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4023360"/>
            <a:ext cx="4754880" cy="274320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4023360"/>
            <a:ext cx="3090672" cy="274320"/>
          </a:xfrm>
          <a:prstGeom prst="roundRect">
            <a:avLst>
              <a:gd name="adj" fmla="val 50000"/>
            </a:avLst>
          </a:prstGeom>
          <a:solidFill>
            <a:srgbClr val="168C96"/>
          </a:solidFill>
          <a:ln/>
        </p:spPr>
      </p:sp>
      <p:sp>
        <p:nvSpPr>
          <p:cNvPr id="30" name="Text 28"/>
          <p:cNvSpPr/>
          <p:nvPr/>
        </p:nvSpPr>
        <p:spPr>
          <a:xfrm>
            <a:off x="1124712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466344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E0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59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多管齊下的介入策略，員工感受最明顯，建議分季導入。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6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4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8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2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6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0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4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💡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健康不是更努力，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D7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而是把正確選擇變得更容易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9445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FE8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從今天開始，一次只做一個改變。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FE8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飲料改無糖、午餐多一份菜、飯後走 10 分鐘。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FE8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四週後，你會看見不一樣的自己。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03au\code\PICO\office-health-html\images\profile.jp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3108960" cy="4023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2336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生生優活南京健康管理診所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02336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沈宛徵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02336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8C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總營養師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23360" y="26060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7" name="Text 4"/>
          <p:cNvSpPr/>
          <p:nvPr/>
        </p:nvSpPr>
        <p:spPr>
          <a:xfrm>
            <a:off x="402336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糖尿病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492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CGM 連續血糖監測營養管理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023360" y="310896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0" name="Text 7"/>
          <p:cNvSpPr/>
          <p:nvPr/>
        </p:nvSpPr>
        <p:spPr>
          <a:xfrm>
            <a:off x="402336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A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體重管理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4924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GLP-1 使用者營養照護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23360" y="36118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</p:sp>
      <p:sp>
        <p:nvSpPr>
          <p:cNvPr id="13" name="Text 10"/>
          <p:cNvSpPr/>
          <p:nvPr/>
        </p:nvSpPr>
        <p:spPr>
          <a:xfrm>
            <a:off x="4023360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8C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代謝症候群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4924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代謝調節與生活介入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023360" y="41148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16" name="Text 13"/>
          <p:cNvSpPr/>
          <p:nvPr/>
        </p:nvSpPr>
        <p:spPr>
          <a:xfrm>
            <a:off x="402336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職場健康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4924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企業健康促進講座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02336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✉ j03audrey@gmail.com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23360" y="516636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68C96"/>
          </a:solidFill>
          <a:ln/>
        </p:spPr>
      </p:sp>
      <p:sp>
        <p:nvSpPr>
          <p:cNvPr id="20" name="Text 17"/>
          <p:cNvSpPr/>
          <p:nvPr/>
        </p:nvSpPr>
        <p:spPr>
          <a:xfrm>
            <a:off x="4206240" y="51663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「健康不是更努力，而是把正確選擇變得更容易。」</a:t>
            </a:r>
            <a:endParaRPr lang="en-US" sz="1250" dirty="0"/>
          </a:p>
        </p:txBody>
      </p:sp>
      <p:pic>
        <p:nvPicPr>
          <p:cNvPr id="21" name="Image 1" descr="C:\Users\j03au\code\PICO\office-health-html\images\q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188720"/>
            <a:ext cx="1828800" cy="18288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69264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掃描取得更多衛教資訊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9509760" y="6035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本簡報內容僅供健康教育，不取代個別醫療診斷或治療建議。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presetID="2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0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presetID="2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上班族健康管理 × 職場效能提升</dc:title>
  <dc:subject>PptxGenJS Presentation</dc:subject>
  <dc:creator>沈宛徵營養師</dc:creator>
  <cp:lastModifiedBy>沈宛徵營養師</cp:lastModifiedBy>
  <cp:revision>1</cp:revision>
  <dcterms:created xsi:type="dcterms:W3CDTF">2026-06-16T05:22:57Z</dcterms:created>
  <dcterms:modified xsi:type="dcterms:W3CDTF">2026-06-16T05:22:57Z</dcterms:modified>
</cp:coreProperties>
</file>